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DM Sans" pitchFamily="2" charset="77"/>
      <p:regular r:id="rId10"/>
    </p:embeddedFont>
    <p:embeddedFont>
      <p:font typeface="DM Sans Bold" pitchFamily="2" charset="77"/>
      <p:regular r:id="rId11"/>
      <p:bold r:id="rId12"/>
    </p:embeddedFont>
    <p:embeddedFont>
      <p:font typeface="Open Sans Bold" panose="020B0806030504020204" pitchFamily="34" charset="0"/>
      <p:regular r:id="rId13"/>
      <p:bold r:id="rId14"/>
    </p:embeddedFont>
    <p:embeddedFont>
      <p:font typeface="Poppins" pitchFamily="2" charset="77"/>
      <p:regular r:id="rId15"/>
      <p:bold r:id="rId16"/>
      <p:italic r:id="rId17"/>
    </p:embeddedFont>
    <p:embeddedFont>
      <p:font typeface="Poppins Bold" pitchFamily="2" charset="77"/>
      <p:regular r:id="rId18"/>
      <p:bold r:id="rId19"/>
    </p:embeddedFont>
    <p:embeddedFont>
      <p:font typeface="Poppins Semi-Bold" pitchFamily="2" charset="7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793400" y="-712357"/>
            <a:ext cx="22453902" cy="11711713"/>
            <a:chOff x="0" y="0"/>
            <a:chExt cx="5913785" cy="30845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FFBD59">
                <a:alpha val="28627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0"/>
              <a:ext cx="5913785" cy="2798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1" indent="0" algn="ctr">
                <a:lnSpc>
                  <a:spcPts val="972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56728" y="2672864"/>
            <a:ext cx="13557623" cy="4303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71"/>
              </a:lnSpc>
            </a:pPr>
            <a:r>
              <a:rPr lang="en-US" sz="4937" b="1" spc="113" dirty="0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BIG DATA - PRODUCT RECOMMENDATION </a:t>
            </a:r>
          </a:p>
          <a:p>
            <a:pPr>
              <a:lnSpc>
                <a:spcPts val="6171"/>
              </a:lnSpc>
            </a:pPr>
            <a:r>
              <a:rPr lang="en-US" sz="4937" b="1" spc="113" dirty="0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SYSTEM USING THE AMAZON PRODUCT </a:t>
            </a:r>
          </a:p>
          <a:p>
            <a:pPr>
              <a:lnSpc>
                <a:spcPts val="6171"/>
              </a:lnSpc>
            </a:pPr>
            <a:r>
              <a:rPr lang="en-US" sz="4937" b="1" spc="113" dirty="0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SALES DATASET </a:t>
            </a:r>
          </a:p>
          <a:p>
            <a:pPr algn="l">
              <a:lnSpc>
                <a:spcPts val="6171"/>
              </a:lnSpc>
            </a:pPr>
            <a:endParaRPr lang="en-US" sz="4937" b="1" spc="113" dirty="0">
              <a:solidFill>
                <a:srgbClr val="1C212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9726"/>
              </a:lnSpc>
            </a:pPr>
            <a:endParaRPr lang="en-US" sz="4937" b="1" spc="113" dirty="0">
              <a:solidFill>
                <a:srgbClr val="1C212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156728" y="5440116"/>
            <a:ext cx="8585483" cy="167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45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TITLE:</a:t>
            </a:r>
            <a:r>
              <a:rPr lang="en-US" sz="2445" dirty="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 STORAGE SOLUTIONS FOR BIG DATA</a:t>
            </a:r>
          </a:p>
          <a:p>
            <a:pPr algn="l">
              <a:lnSpc>
                <a:spcPts val="3081"/>
              </a:lnSpc>
            </a:pPr>
            <a:r>
              <a:rPr lang="en-US" sz="2445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 NAME: </a:t>
            </a:r>
            <a:r>
              <a:rPr lang="en-US" sz="2445" dirty="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HOAI NHAN NGUYEN</a:t>
            </a:r>
          </a:p>
          <a:p>
            <a:pPr algn="l">
              <a:lnSpc>
                <a:spcPts val="3081"/>
              </a:lnSpc>
            </a:pPr>
            <a:r>
              <a:rPr lang="en-US" sz="2445" b="1" dirty="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 ID :</a:t>
            </a:r>
            <a:r>
              <a:rPr lang="en-US" sz="2445" dirty="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 SBA24098</a:t>
            </a:r>
          </a:p>
          <a:p>
            <a:pPr algn="ctr">
              <a:lnSpc>
                <a:spcPts val="3445"/>
              </a:lnSpc>
            </a:pPr>
            <a:endParaRPr lang="en-US" sz="2445" dirty="0">
              <a:solidFill>
                <a:srgbClr val="1C21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1559" y="1817117"/>
            <a:ext cx="7006738" cy="6582931"/>
          </a:xfrm>
          <a:custGeom>
            <a:avLst/>
            <a:gdLst/>
            <a:ahLst/>
            <a:cxnLst/>
            <a:rect l="l" t="t" r="r" b="b"/>
            <a:pathLst>
              <a:path w="7006738" h="6582931">
                <a:moveTo>
                  <a:pt x="0" y="0"/>
                </a:moveTo>
                <a:lnTo>
                  <a:pt x="7006738" y="0"/>
                </a:lnTo>
                <a:lnTo>
                  <a:pt x="7006738" y="6582931"/>
                </a:lnTo>
                <a:lnTo>
                  <a:pt x="0" y="6582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402" b="-100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8595420" y="2298144"/>
            <a:ext cx="8011990" cy="1119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38270" y="3963538"/>
            <a:ext cx="7898287" cy="4457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Ov</a:t>
            </a:r>
            <a:r>
              <a:rPr lang="en-US" sz="2499" b="1" u="none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erview: </a:t>
            </a:r>
            <a:r>
              <a:rPr lang="en-US" sz="2499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E-commerce growth and Big Data</a:t>
            </a:r>
          </a:p>
          <a:p>
            <a:pPr algn="l">
              <a:lnSpc>
                <a:spcPts val="2999"/>
              </a:lnSpc>
            </a:pPr>
            <a:endParaRPr lang="en-US" sz="2499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u="none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Objective: </a:t>
            </a:r>
            <a:r>
              <a:rPr lang="en-US" sz="2499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Analyzing product data and build a content-based recommendation system.</a:t>
            </a:r>
          </a:p>
          <a:p>
            <a:pPr algn="l">
              <a:lnSpc>
                <a:spcPts val="2999"/>
              </a:lnSpc>
            </a:pPr>
            <a:endParaRPr lang="en-US" sz="2499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u="none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Big Data Tools: </a:t>
            </a:r>
            <a:r>
              <a:rPr lang="en-US" sz="2499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Hadoop Distributed File System, Apache Spark, Apache HBase</a:t>
            </a:r>
          </a:p>
          <a:p>
            <a:pPr algn="l">
              <a:lnSpc>
                <a:spcPts val="2999"/>
              </a:lnSpc>
            </a:pPr>
            <a:endParaRPr lang="en-US" sz="2499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 b="1" u="none" spc="14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Dataset:</a:t>
            </a:r>
            <a:r>
              <a:rPr lang="en-US" sz="2499" u="none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Amazon Product Sales Dataset 2023</a:t>
            </a:r>
          </a:p>
          <a:p>
            <a:pPr marL="0" lvl="0" indent="0" algn="l">
              <a:lnSpc>
                <a:spcPts val="3220"/>
              </a:lnSpc>
            </a:pPr>
            <a:endParaRPr lang="en-US" sz="2499" u="none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95553"/>
            <a:ext cx="15875165" cy="239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800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 &amp; Workflow</a:t>
            </a:r>
          </a:p>
          <a:p>
            <a:pPr algn="l">
              <a:lnSpc>
                <a:spcPts val="9006"/>
              </a:lnSpc>
            </a:pPr>
            <a:endParaRPr lang="en-US" sz="800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088760"/>
            <a:ext cx="15684927" cy="529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b="1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Data St</a:t>
            </a:r>
            <a:r>
              <a:rPr lang="en-US" sz="2499" b="1" u="none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orage: </a:t>
            </a: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Load and store the dataset in the Hadoop Distributed File System (HDFS).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b="1" u="none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Data Processing: </a:t>
            </a: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 data cleaning and transformation using Apache Spark.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b="1" u="none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Data Persistence: </a:t>
            </a: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Save the processed and cleaned data into Apache HBase for efficient retrieval and management.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b="1" u="none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Data Analysis &amp; Visualization:</a:t>
            </a: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Retrieve data from Apache HBase, perform analytical operations with Apache Spark, and generate insightful visualizations.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b="1" u="none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Recommendation Functionality: </a:t>
            </a: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a content-based recommendation system using   Apache Spark.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b="1" u="none" spc="1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Recommendation Storage: </a:t>
            </a: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Store the generated product recommendations in Apache HBase based on its product ID for easy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4415"/>
            <a:ext cx="17059652" cy="232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750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&amp; Transformation</a:t>
            </a:r>
          </a:p>
          <a:p>
            <a:pPr algn="l">
              <a:lnSpc>
                <a:spcPts val="9120"/>
              </a:lnSpc>
            </a:pPr>
            <a:endParaRPr lang="en-US" sz="750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709862"/>
            <a:ext cx="15684927" cy="4854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 b="1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</a:t>
            </a:r>
            <a:r>
              <a:rPr lang="en-US" sz="2999" b="1" u="none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eps Taken:</a:t>
            </a:r>
          </a:p>
          <a:p>
            <a:pPr algn="l">
              <a:lnSpc>
                <a:spcPts val="4079"/>
              </a:lnSpc>
            </a:pPr>
            <a:endParaRPr lang="en-US" sz="2999" b="1" u="none" spc="164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Dropping the c0 column and created a unique product_id column.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Removing rows that were missing both “discount_price” and “actual_price” values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Handling null values in “rating”, , and “no_of_ratings” columns by setting the values to zero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Replaced missing discount_price to match the actual_price value.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Removed duplicate entries based on the product name. 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Cleaned and validated data for the “rating”, and “no_of_ratings” columns 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Converted currency: Indian Rupees →  Euros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323086" y="8303636"/>
            <a:ext cx="5738905" cy="858469"/>
            <a:chOff x="0" y="0"/>
            <a:chExt cx="1511481" cy="2260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1481" cy="226099"/>
            </a:xfrm>
            <a:custGeom>
              <a:avLst/>
              <a:gdLst/>
              <a:ahLst/>
              <a:cxnLst/>
              <a:rect l="l" t="t" r="r" b="b"/>
              <a:pathLst>
                <a:path w="1511481" h="226099">
                  <a:moveTo>
                    <a:pt x="0" y="0"/>
                  </a:moveTo>
                  <a:lnTo>
                    <a:pt x="1511481" y="0"/>
                  </a:lnTo>
                  <a:lnTo>
                    <a:pt x="1511481" y="226099"/>
                  </a:lnTo>
                  <a:lnTo>
                    <a:pt x="0" y="226099"/>
                  </a:lnTo>
                  <a:close/>
                </a:path>
              </a:pathLst>
            </a:custGeom>
            <a:solidFill>
              <a:srgbClr val="DCDCDC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11481" cy="26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>
                      <a:alpha val="4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Stored to Hadoop Distributed File System and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000000">
                      <a:alpha val="49804"/>
                    </a:srgbClr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saved the data to Apache HBase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4415"/>
            <a:ext cx="17059652" cy="232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750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Analysis &amp; Insights</a:t>
            </a:r>
          </a:p>
          <a:p>
            <a:pPr algn="l">
              <a:lnSpc>
                <a:spcPts val="9120"/>
              </a:lnSpc>
            </a:pPr>
            <a:endParaRPr lang="en-US" sz="750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709862"/>
            <a:ext cx="15684927" cy="5902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 b="1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Findings</a:t>
            </a:r>
            <a:r>
              <a:rPr lang="en-US" sz="2999" b="1" u="none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algn="l">
              <a:lnSpc>
                <a:spcPts val="4249"/>
              </a:lnSpc>
            </a:pPr>
            <a:endParaRPr lang="en-US" sz="2999" b="1" u="none" spc="164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Top 5 Products (Ratings + Reviews)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Bottom 5 Products (Ratings + Reviews)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Price Analysis by Main Category (Median values)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Rating Distribution by Main Category</a:t>
            </a:r>
          </a:p>
          <a:p>
            <a:pPr marL="539749" lvl="1" indent="-269875" algn="l">
              <a:lnSpc>
                <a:spcPts val="4249"/>
              </a:lnSpc>
              <a:buAutoNum type="arabicPeriod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Discount Loss Calculation</a:t>
            </a:r>
          </a:p>
          <a:p>
            <a:pPr algn="l">
              <a:lnSpc>
                <a:spcPts val="4079"/>
              </a:lnSpc>
            </a:pPr>
            <a:endParaRPr lang="en-US" sz="2499" u="none" spc="13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079"/>
              </a:lnSpc>
            </a:pPr>
            <a:r>
              <a:rPr lang="en-US" sz="2400" b="1" u="none" spc="13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Tools Used:</a:t>
            </a:r>
          </a:p>
          <a:p>
            <a:pPr marL="539749" lvl="1" indent="-269875" algn="l">
              <a:lnSpc>
                <a:spcPts val="4249"/>
              </a:lnSpc>
              <a:buFont typeface="Arial"/>
              <a:buChar char="•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Spark + Pandas + Matplotlib + Seaborn</a:t>
            </a:r>
          </a:p>
          <a:p>
            <a:pPr algn="l">
              <a:lnSpc>
                <a:spcPts val="4249"/>
              </a:lnSpc>
            </a:pPr>
            <a:endParaRPr lang="en-US" sz="2499" u="none" spc="13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4415"/>
            <a:ext cx="17059652" cy="232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750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 System</a:t>
            </a:r>
          </a:p>
          <a:p>
            <a:pPr algn="l">
              <a:lnSpc>
                <a:spcPts val="9120"/>
              </a:lnSpc>
            </a:pPr>
            <a:endParaRPr lang="en-US" sz="750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650869"/>
            <a:ext cx="15684927" cy="664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5099"/>
              </a:lnSpc>
              <a:buAutoNum type="arabicPeriod"/>
            </a:pPr>
            <a:r>
              <a:rPr lang="en-US" sz="2999" b="1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Preprocessing</a:t>
            </a:r>
            <a:r>
              <a:rPr lang="en-US" sz="2999" b="1" u="none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marL="1079499" lvl="2" indent="-359833" algn="l">
              <a:lnSpc>
                <a:spcPts val="4249"/>
              </a:lnSpc>
              <a:buFont typeface="Arial"/>
              <a:buChar char="⚬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Categorical features - main_category and sub_category columns </a:t>
            </a:r>
          </a:p>
          <a:p>
            <a:pPr marL="1079499" lvl="2" indent="-359833" algn="l">
              <a:lnSpc>
                <a:spcPts val="4249"/>
              </a:lnSpc>
              <a:buFont typeface="Arial"/>
              <a:buChar char="⚬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Apache Spark Data Pipeline - StringIndexer + OneHotEncoder + VectorAssembler to feature vectors</a:t>
            </a:r>
          </a:p>
          <a:p>
            <a:pPr marL="647697" lvl="1" indent="-323848" algn="l">
              <a:lnSpc>
                <a:spcPts val="5099"/>
              </a:lnSpc>
              <a:buAutoNum type="arabicPeriod"/>
            </a:pPr>
            <a:r>
              <a:rPr lang="en-US" sz="2999" b="1" u="none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Cosine Similarity Calculation:</a:t>
            </a:r>
          </a:p>
          <a:p>
            <a:pPr marL="1079499" lvl="2" indent="-359833" algn="l">
              <a:lnSpc>
                <a:spcPts val="4249"/>
              </a:lnSpc>
              <a:buFont typeface="Arial"/>
              <a:buChar char="⚬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Cosine similarity applied to feature vectors</a:t>
            </a:r>
          </a:p>
          <a:p>
            <a:pPr marL="1079499" lvl="2" indent="-359833" algn="l">
              <a:lnSpc>
                <a:spcPts val="4249"/>
              </a:lnSpc>
              <a:buFont typeface="Arial"/>
              <a:buChar char="⚬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Top-5 similar products identified</a:t>
            </a:r>
          </a:p>
          <a:p>
            <a:pPr marL="647697" lvl="1" indent="-323848" algn="l">
              <a:lnSpc>
                <a:spcPts val="5099"/>
              </a:lnSpc>
              <a:buAutoNum type="arabicPeriod"/>
            </a:pPr>
            <a:r>
              <a:rPr lang="en-US" sz="2999" b="1" u="none" spc="16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Storage:</a:t>
            </a:r>
          </a:p>
          <a:p>
            <a:pPr marL="1079499" lvl="2" indent="-359833" algn="l">
              <a:lnSpc>
                <a:spcPts val="4249"/>
              </a:lnSpc>
              <a:buFont typeface="Arial"/>
              <a:buChar char="⚬"/>
            </a:pPr>
            <a:r>
              <a:rPr lang="en-US" sz="2499" u="none" spc="1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Storing product recommendation data to HBase by product ID  to enable fast retrieval of recommendations for future use</a:t>
            </a:r>
          </a:p>
          <a:p>
            <a:pPr algn="l">
              <a:lnSpc>
                <a:spcPts val="4079"/>
              </a:lnSpc>
            </a:pPr>
            <a:endParaRPr lang="en-US" sz="2499" u="none" spc="13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079"/>
              </a:lnSpc>
            </a:pPr>
            <a:endParaRPr lang="en-US" sz="2499" u="none" spc="13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5445" y="3054143"/>
            <a:ext cx="14349352" cy="1315789"/>
          </a:xfrm>
          <a:custGeom>
            <a:avLst/>
            <a:gdLst/>
            <a:ahLst/>
            <a:cxnLst/>
            <a:rect l="l" t="t" r="r" b="b"/>
            <a:pathLst>
              <a:path w="14349352" h="1315789">
                <a:moveTo>
                  <a:pt x="0" y="0"/>
                </a:moveTo>
                <a:lnTo>
                  <a:pt x="14349352" y="0"/>
                </a:lnTo>
                <a:lnTo>
                  <a:pt x="14349352" y="1315789"/>
                </a:lnTo>
                <a:lnTo>
                  <a:pt x="0" y="1315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5103592"/>
            <a:ext cx="14416027" cy="2322504"/>
          </a:xfrm>
          <a:custGeom>
            <a:avLst/>
            <a:gdLst/>
            <a:ahLst/>
            <a:cxnLst/>
            <a:rect l="l" t="t" r="r" b="b"/>
            <a:pathLst>
              <a:path w="14416027" h="2322504">
                <a:moveTo>
                  <a:pt x="0" y="0"/>
                </a:moveTo>
                <a:lnTo>
                  <a:pt x="14416027" y="0"/>
                </a:lnTo>
                <a:lnTo>
                  <a:pt x="14416027" y="2322505"/>
                </a:lnTo>
                <a:lnTo>
                  <a:pt x="0" y="2322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45074" y="8201004"/>
            <a:ext cx="14310095" cy="470209"/>
          </a:xfrm>
          <a:custGeom>
            <a:avLst/>
            <a:gdLst/>
            <a:ahLst/>
            <a:cxnLst/>
            <a:rect l="l" t="t" r="r" b="b"/>
            <a:pathLst>
              <a:path w="14310095" h="470209">
                <a:moveTo>
                  <a:pt x="0" y="0"/>
                </a:moveTo>
                <a:lnTo>
                  <a:pt x="14310094" y="0"/>
                </a:lnTo>
                <a:lnTo>
                  <a:pt x="14310094" y="470209"/>
                </a:lnTo>
                <a:lnTo>
                  <a:pt x="0" y="470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2936" r="-283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34415"/>
            <a:ext cx="17059652" cy="232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50"/>
              </a:lnSpc>
            </a:pPr>
            <a:r>
              <a:rPr lang="en-US" sz="750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 Results</a:t>
            </a:r>
          </a:p>
          <a:p>
            <a:pPr algn="l">
              <a:lnSpc>
                <a:spcPts val="9120"/>
              </a:lnSpc>
            </a:pPr>
            <a:endParaRPr lang="en-US" sz="7500" b="1">
              <a:solidFill>
                <a:srgbClr val="1C21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35112" y="2336024"/>
            <a:ext cx="5492440" cy="49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2496" b="1" spc="137">
                <a:solidFill>
                  <a:srgbClr val="1C2120">
                    <a:alpha val="6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Product ID 123456 information</a:t>
            </a:r>
            <a:r>
              <a:rPr lang="en-US" sz="2496" b="1" u="none" spc="137">
                <a:solidFill>
                  <a:srgbClr val="1C2120">
                    <a:alpha val="6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5112" y="4425508"/>
            <a:ext cx="12055472" cy="49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2496" b="1" spc="137">
                <a:solidFill>
                  <a:srgbClr val="1C2120">
                    <a:alpha val="6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Top 5 recommended products based on Product ID 123456</a:t>
            </a:r>
            <a:r>
              <a:rPr lang="en-US" sz="2496" b="1" u="none" spc="137">
                <a:solidFill>
                  <a:srgbClr val="1C2120">
                    <a:alpha val="6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5445" y="7483247"/>
            <a:ext cx="12055472" cy="49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2496" b="1" spc="137">
                <a:solidFill>
                  <a:srgbClr val="1C2120">
                    <a:alpha val="6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Updated HBase for Product ID 123456 with recommendations.</a:t>
            </a:r>
            <a:r>
              <a:rPr lang="en-US" sz="2496" b="1" u="none" spc="137">
                <a:solidFill>
                  <a:srgbClr val="1C2120">
                    <a:alpha val="69804"/>
                  </a:srgbClr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2017" y="4034387"/>
            <a:ext cx="11923966" cy="156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83953" y="5850125"/>
            <a:ext cx="7920094" cy="669188"/>
            <a:chOff x="0" y="0"/>
            <a:chExt cx="2085951" cy="176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5951" cy="176247"/>
            </a:xfrm>
            <a:custGeom>
              <a:avLst/>
              <a:gdLst/>
              <a:ahLst/>
              <a:cxnLst/>
              <a:rect l="l" t="t" r="r" b="b"/>
              <a:pathLst>
                <a:path w="2085951" h="176247">
                  <a:moveTo>
                    <a:pt x="0" y="0"/>
                  </a:moveTo>
                  <a:lnTo>
                    <a:pt x="2085951" y="0"/>
                  </a:lnTo>
                  <a:lnTo>
                    <a:pt x="2085951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FFDE59">
                <a:alpha val="49804"/>
              </a:srgbClr>
            </a:solidFill>
            <a:ln w="28575" cap="sq">
              <a:solidFill>
                <a:srgbClr val="1C212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85951" cy="21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83953" y="5962600"/>
            <a:ext cx="7782414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HOAI NHAN NGUYEN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Macintosh PowerPoint</Application>
  <PresentationFormat>Custom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DM Sans Bold</vt:lpstr>
      <vt:lpstr>Poppins</vt:lpstr>
      <vt:lpstr>Arial</vt:lpstr>
      <vt:lpstr>Open Sans Bold</vt:lpstr>
      <vt:lpstr>Poppins Bold</vt:lpstr>
      <vt:lpstr>DM Sans</vt:lpstr>
      <vt:lpstr>Poppins Semi-Bold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Project Presentation</dc:title>
  <cp:lastModifiedBy>Hoai Nhan Nguyen</cp:lastModifiedBy>
  <cp:revision>4</cp:revision>
  <dcterms:created xsi:type="dcterms:W3CDTF">2006-08-16T00:00:00Z</dcterms:created>
  <dcterms:modified xsi:type="dcterms:W3CDTF">2025-04-23T20:54:13Z</dcterms:modified>
  <dc:identifier>DAGlZqRdyLI</dc:identifier>
</cp:coreProperties>
</file>